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0"/>
            <a:ext cx="12188952" cy="18288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09728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>
                <a:solidFill>
                  <a:srgbClr val="FFFFFF"/>
                </a:solidFill>
                <a:latin typeface="맑은 고딕"/>
              </a:rPr>
              <a:t>사 업 계 획 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56032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DBE9FE"/>
                </a:solidFill>
                <a:latin typeface="맑은 고딕"/>
              </a:rPr>
              <a:t>AIoT 기반 무인 공유오피스 고도화 사업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2120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  <a:latin typeface="맑은 고딕"/>
              </a:rPr>
              <a:t>대우오피스  |  2026년 2월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E40AF"/>
                </a:solidFill>
                <a:latin typeface="맑은 고딕"/>
              </a:rPr>
              <a:t>목  차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11430000" cy="27432"/>
          </a:xfrm>
          <a:prstGeom prst="rect">
            <a:avLst/>
          </a:prstGeom>
          <a:solidFill>
            <a:srgbClr val="DB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280160"/>
            <a:ext cx="5303520" cy="1188720"/>
          </a:xfrm>
          <a:prstGeom prst="rect">
            <a:avLst/>
          </a:prstGeom>
          <a:solidFill>
            <a:srgbClr val="FFFFFF"/>
          </a:solidFill>
          <a:ln>
            <a:solidFill>
              <a:srgbClr val="DBE9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37160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E40AF"/>
                </a:solidFill>
                <a:latin typeface="맑은 고딕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1417319"/>
            <a:ext cx="4297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맑은 고딕"/>
              </a:rPr>
              <a:t>기업 개요 및 사업 비전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0" y="1280160"/>
            <a:ext cx="5303520" cy="1188720"/>
          </a:xfrm>
          <a:prstGeom prst="rect">
            <a:avLst/>
          </a:prstGeom>
          <a:solidFill>
            <a:srgbClr val="FFFFFF"/>
          </a:solidFill>
          <a:ln>
            <a:solidFill>
              <a:srgbClr val="DBE9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37960" y="137160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E40AF"/>
                </a:solidFill>
                <a:latin typeface="맑은 고딕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23760" y="1417319"/>
            <a:ext cx="4297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맑은 고딕"/>
              </a:rPr>
              <a:t>시장 분석 및 문제 제기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2743200"/>
            <a:ext cx="5303520" cy="1188720"/>
          </a:xfrm>
          <a:prstGeom prst="rect">
            <a:avLst/>
          </a:prstGeom>
          <a:solidFill>
            <a:srgbClr val="FFFFFF"/>
          </a:solidFill>
          <a:ln>
            <a:solidFill>
              <a:srgbClr val="DBE9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283464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E40AF"/>
                </a:solidFill>
                <a:latin typeface="맑은 고딕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2880360"/>
            <a:ext cx="4297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맑은 고딕"/>
              </a:rPr>
              <a:t>핵심 기술: AIoT 무인 운영 시스템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0" y="2743200"/>
            <a:ext cx="5303520" cy="1188720"/>
          </a:xfrm>
          <a:prstGeom prst="rect">
            <a:avLst/>
          </a:prstGeom>
          <a:solidFill>
            <a:srgbClr val="FFFFFF"/>
          </a:solidFill>
          <a:ln>
            <a:solidFill>
              <a:srgbClr val="DBE9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37960" y="283464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E40AF"/>
                </a:solidFill>
                <a:latin typeface="맑은 고딕"/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23760" y="2880360"/>
            <a:ext cx="4297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맑은 고딕"/>
              </a:rPr>
              <a:t>공간 운영 전략: 하이브리드 스페이스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4206240"/>
            <a:ext cx="5303520" cy="1188720"/>
          </a:xfrm>
          <a:prstGeom prst="rect">
            <a:avLst/>
          </a:prstGeom>
          <a:solidFill>
            <a:srgbClr val="FFFFFF"/>
          </a:solidFill>
          <a:ln>
            <a:solidFill>
              <a:srgbClr val="DBE9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4297679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E40AF"/>
                </a:solidFill>
                <a:latin typeface="맑은 고딕"/>
              </a:rPr>
              <a:t>05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4343400"/>
            <a:ext cx="4297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맑은 고딕"/>
              </a:rPr>
              <a:t>소요 자금 및 조달 계획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0" y="4206240"/>
            <a:ext cx="5303520" cy="1188720"/>
          </a:xfrm>
          <a:prstGeom prst="rect">
            <a:avLst/>
          </a:prstGeom>
          <a:solidFill>
            <a:srgbClr val="FFFFFF"/>
          </a:solidFill>
          <a:ln>
            <a:solidFill>
              <a:srgbClr val="DBE9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37960" y="4297679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E40AF"/>
                </a:solidFill>
                <a:latin typeface="맑은 고딕"/>
              </a:rPr>
              <a:t>06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23760" y="4343400"/>
            <a:ext cx="4297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맑은 고딕"/>
              </a:rPr>
              <a:t>기대 효과 및 성장 전략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E40AF"/>
                </a:solidFill>
                <a:latin typeface="맑은 고딕"/>
              </a:rPr>
              <a:t>01. 기업 개요 및 사업 비전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맑은 고딕"/>
              </a:rPr>
              <a:t>14년 업력의 지역 거점 비즈니스 센터 — AI로 새롭게 도약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11430000" cy="27432"/>
          </a:xfrm>
          <a:prstGeom prst="rect">
            <a:avLst/>
          </a:prstGeom>
          <a:solidFill>
            <a:srgbClr val="DB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3566160" cy="5029200"/>
          </a:xfrm>
          <a:prstGeom prst="rect">
            <a:avLst/>
          </a:prstGeom>
          <a:solidFill>
            <a:srgbClr val="FFFFFF"/>
          </a:solidFill>
          <a:ln>
            <a:solidFill>
              <a:srgbClr val="DBE9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280160"/>
            <a:ext cx="3566160" cy="5943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32588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맑은 고딕"/>
              </a:rPr>
              <a:t>🏢 기업 현황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11680"/>
            <a:ext cx="32918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맑은 고딕"/>
              </a:rPr>
              <a:t>2014년 11월 설립
운영 11년 차 (1인 기업)
경기도 일산 위치
75평 소호사무실 + 16평 라운지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80" y="1280160"/>
            <a:ext cx="3566160" cy="5029200"/>
          </a:xfrm>
          <a:prstGeom prst="rect">
            <a:avLst/>
          </a:prstGeom>
          <a:solidFill>
            <a:srgbClr val="FFFFFF"/>
          </a:solidFill>
          <a:ln>
            <a:solidFill>
              <a:srgbClr val="DBE9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97680" y="1280160"/>
            <a:ext cx="3566160" cy="5943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34840" y="132588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맑은 고딕"/>
              </a:rPr>
              <a:t>👤 대표자 전문성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34840" y="2011680"/>
            <a:ext cx="32918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맑은 고딕"/>
              </a:rPr>
              <a:t>부동산 임대업 11년 전문가
관리단 총무 3연임 (법적 이해 상위)
Google AI 기술 습득 중
임대관리 웹서비스 직접 개발 중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38160" y="1280160"/>
            <a:ext cx="3566160" cy="5029200"/>
          </a:xfrm>
          <a:prstGeom prst="rect">
            <a:avLst/>
          </a:prstGeom>
          <a:solidFill>
            <a:srgbClr val="FFFFFF"/>
          </a:solidFill>
          <a:ln>
            <a:solidFill>
              <a:srgbClr val="DBE9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38160" y="1280160"/>
            <a:ext cx="3566160" cy="5943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75320" y="132588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맑은 고딕"/>
              </a:rPr>
              <a:t>🚀 사업 비전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20" y="2011680"/>
            <a:ext cx="32918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맑은 고딕"/>
              </a:rPr>
              <a:t>단순 임대업 →
AI 무인 관리 플랫폼으로 Pivot
1인 운영 완전 자동화 실현
솔루션 외부 판매(SaaS) 목표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E40AF"/>
                </a:solidFill>
                <a:latin typeface="맑은 고딕"/>
              </a:rPr>
              <a:t>02. 시장 분석 및 문제 제기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맑은 고딕"/>
              </a:rPr>
              <a:t>성장하는 시장, 그러나 기존 방식으로는 한계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11430000" cy="27432"/>
          </a:xfrm>
          <a:prstGeom prst="rect">
            <a:avLst/>
          </a:prstGeom>
          <a:solidFill>
            <a:srgbClr val="DB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5303520" cy="2286000"/>
          </a:xfrm>
          <a:prstGeom prst="rect">
            <a:avLst/>
          </a:prstGeom>
          <a:solidFill>
            <a:srgbClr val="EFF6FF"/>
          </a:solidFill>
          <a:ln>
            <a:solidFill>
              <a:srgbClr val="DBE9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258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E40AF"/>
                </a:solidFill>
                <a:latin typeface="맑은 고딕"/>
              </a:rPr>
              <a:t>📊 시장 환경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83080"/>
            <a:ext cx="5029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맑은 고딕"/>
              </a:rPr>
              <a:t>• 공유오피스 시장 규모: 1.2조 원 (年 15% 성장)
• 1인 창조기업 등록: 약 22만 개 사
• 스마트오피스 도입 의향: 중소기업 64%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749039"/>
            <a:ext cx="5303520" cy="2560320"/>
          </a:xfrm>
          <a:prstGeom prst="rect">
            <a:avLst/>
          </a:prstGeom>
          <a:solidFill>
            <a:srgbClr val="FFF1F2"/>
          </a:solidFill>
          <a:ln>
            <a:solidFill>
              <a:srgbClr val="FB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37947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BE123C"/>
                </a:solidFill>
                <a:latin typeface="맑은 고딕"/>
              </a:rPr>
              <a:t>⚠️ 기존 소호사무실의 문제점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4251960"/>
            <a:ext cx="50292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맑은 고딕"/>
              </a:rPr>
              <a:t>• 중앙 냉난방 → 에너지 낭비 심각
• 관리자 상주 불가 → 보안 취약
• 커뮤니티 부재 → 입주사 이탈률 증가
• 수작업 정산 → 월 20시간 이상 낭비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1280160"/>
            <a:ext cx="5486400" cy="50292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37160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맑은 고딕"/>
              </a:rPr>
              <a:t>💡 우리의 해결책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192024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맑은 고딕"/>
              </a:rPr>
              <a:t>AI + IoT 결합
"초저비용 고효율
무인 공유오피스"
관리 인건비 ZERO
에너지 30% 절감
자동화 정산 시스템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E40AF"/>
                </a:solidFill>
                <a:latin typeface="맑은 고딕"/>
              </a:rPr>
              <a:t>03. 핵심 기술: AIoT 무인 운영 시스템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맑은 고딕"/>
              </a:rPr>
              <a:t>1인 대표자가 스마트폰 하나로 전체 오피스 운영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11430000" cy="27432"/>
          </a:xfrm>
          <a:prstGeom prst="rect">
            <a:avLst/>
          </a:prstGeom>
          <a:solidFill>
            <a:srgbClr val="DB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5486400" cy="2286000"/>
          </a:xfrm>
          <a:prstGeom prst="rect">
            <a:avLst/>
          </a:prstGeom>
          <a:solidFill>
            <a:srgbClr val="FFFFFF"/>
          </a:solidFill>
          <a:ln>
            <a:solidFill>
              <a:srgbClr val="DBE9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17319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E40AF"/>
                </a:solidFill>
                <a:latin typeface="맑은 고딕"/>
              </a:rPr>
              <a:t>⚡ 스마트 에너지 관리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20239"/>
            <a:ext cx="50292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맑은 고딕"/>
              </a:rPr>
              <a:t>• 재실 감지 센서 → 자동 절전
• 멀티형 시스템 에어컨 중앙 제어
• AI 온도 패턴 학습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280160"/>
            <a:ext cx="5486400" cy="2286000"/>
          </a:xfrm>
          <a:prstGeom prst="rect">
            <a:avLst/>
          </a:prstGeom>
          <a:solidFill>
            <a:srgbClr val="FFFFFF"/>
          </a:solidFill>
          <a:ln>
            <a:solidFill>
              <a:srgbClr val="DBE9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417319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E40AF"/>
                </a:solidFill>
                <a:latin typeface="맑은 고딕"/>
              </a:rPr>
              <a:t>🔐 무인 출입 관제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920239"/>
            <a:ext cx="50292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맑은 고딕"/>
              </a:rPr>
              <a:t>• NFC/QR 스마트 도어락
• 모바일 앱 원격 모니터링
• 이상 감지 실시간 알림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840479"/>
            <a:ext cx="5486400" cy="2286000"/>
          </a:xfrm>
          <a:prstGeom prst="rect">
            <a:avLst/>
          </a:prstGeom>
          <a:solidFill>
            <a:srgbClr val="FFFFFF"/>
          </a:solidFill>
          <a:ln>
            <a:solidFill>
              <a:srgbClr val="DBE9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977639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E40AF"/>
                </a:solidFill>
                <a:latin typeface="맑은 고딕"/>
              </a:rPr>
              <a:t>💰 자동 정산 시스템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480559"/>
            <a:ext cx="50292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맑은 고딕"/>
              </a:rPr>
              <a:t>• 전기 사용량 자동 측정
• 월별 관리비 AI 자동 청구
• 세금계산서 자동 발행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3840479"/>
            <a:ext cx="5486400" cy="2286000"/>
          </a:xfrm>
          <a:prstGeom prst="rect">
            <a:avLst/>
          </a:prstGeom>
          <a:solidFill>
            <a:srgbClr val="FFFFFF"/>
          </a:solidFill>
          <a:ln>
            <a:solidFill>
              <a:srgbClr val="DBE9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3977639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E40AF"/>
                </a:solidFill>
                <a:latin typeface="맑은 고딕"/>
              </a:rPr>
              <a:t>🤖 AI 챗봇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4480559"/>
            <a:ext cx="50292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맑은 고딕"/>
              </a:rPr>
              <a:t>• 24/7 입주사 민원 자동 응대
• 계약 만료 자동 안내
• 미납 독촉 카카오 알림톡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E40AF"/>
                </a:solidFill>
                <a:latin typeface="맑은 고딕"/>
              </a:rPr>
              <a:t>04. 공간 운영 전략: 하이브리드 스페이스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맑은 고딕"/>
              </a:rPr>
              <a:t>자가 소유(Private) + 라운지(Public) 최적 결합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11430000" cy="27432"/>
          </a:xfrm>
          <a:prstGeom prst="rect">
            <a:avLst/>
          </a:prstGeom>
          <a:solidFill>
            <a:srgbClr val="DB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5303520" cy="5029200"/>
          </a:xfrm>
          <a:prstGeom prst="rect">
            <a:avLst/>
          </a:prstGeom>
          <a:solidFill>
            <a:srgbClr val="EFF6FF"/>
          </a:solidFill>
          <a:ln>
            <a:solidFill>
              <a:srgbClr val="DBE9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280160"/>
            <a:ext cx="5303520" cy="5943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32588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맑은 고딕"/>
              </a:rPr>
              <a:t>🔒 PRIVATE ZONE (20룸 / 75평)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96596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맑은 고딕"/>
              </a:rPr>
              <a:t>• 완전 자가 소유 — 안정적 임대 수익
• 시스템 에어컨 AI 제어 교체
• 룸별 재실 감지 + 전력 측정 설치
• NFC 스마트 도어락 전면 교체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26480" y="1280160"/>
            <a:ext cx="5577840" cy="5029200"/>
          </a:xfrm>
          <a:prstGeom prst="rect">
            <a:avLst/>
          </a:prstGeom>
          <a:solidFill>
            <a:srgbClr val="F0FDF4"/>
          </a:solidFill>
          <a:ln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26480" y="1280160"/>
            <a:ext cx="5577840" cy="5943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63640" y="132588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맑은 고딕"/>
              </a:rPr>
              <a:t>🌐 PUBLIC ZONE (라운지 / 16평)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3640" y="196596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맑은 고딕"/>
              </a:rPr>
              <a:t>• 집합상가 공용부 전용 사용 (월 20만 원)
• 관리단 총무 3연임 → 장기 사용권 안정 확보
• 이동식 방음 부스 + 모듈형 회의 테이블
• 24시간 무인 운영 (키오스크 + 스마트 예약)
• 입주사 간 네트워킹·협업 거점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E40AF"/>
                </a:solidFill>
                <a:latin typeface="맑은 고딕"/>
              </a:rPr>
              <a:t>05. 소요 자금 및 조달 계획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맑은 고딕"/>
              </a:rPr>
              <a:t>총 약 75,000,000원 / 소상공인 정책자금 70,000,000원 신청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11430000" cy="27432"/>
          </a:xfrm>
          <a:prstGeom prst="rect">
            <a:avLst/>
          </a:prstGeom>
          <a:solidFill>
            <a:srgbClr val="DB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11247120" cy="777240"/>
          </a:xfrm>
          <a:prstGeom prst="rect">
            <a:avLst/>
          </a:prstGeom>
          <a:solidFill>
            <a:srgbClr val="F8FAFC"/>
          </a:solidFill>
          <a:ln>
            <a:solidFill>
              <a:srgbClr val="DBE9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417319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맑은 고딕"/>
              </a:rPr>
              <a:t>스마트 냉난방 시스템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417319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1E40AF"/>
                </a:solidFill>
                <a:latin typeface="맑은 고딕"/>
              </a:rPr>
              <a:t>35~45,000,000원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1417319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맑은 고딕"/>
              </a:rPr>
              <a:t>시설 투자 핵심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103120"/>
            <a:ext cx="11247120" cy="777240"/>
          </a:xfrm>
          <a:prstGeom prst="rect">
            <a:avLst/>
          </a:prstGeom>
          <a:solidFill>
            <a:srgbClr val="FFFFFF"/>
          </a:solidFill>
          <a:ln>
            <a:solidFill>
              <a:srgbClr val="DBE9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2240279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맑은 고딕"/>
              </a:rPr>
              <a:t>AIoT 관제 시스템 (소프트웨어 + 센서)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2240279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1E40AF"/>
                </a:solidFill>
                <a:latin typeface="맑은 고딕"/>
              </a:rPr>
              <a:t>10~15,000,000원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0" y="2240279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맑은 고딕"/>
              </a:rPr>
              <a:t>기술 혁신 핵심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926079"/>
            <a:ext cx="11247120" cy="777240"/>
          </a:xfrm>
          <a:prstGeom prst="rect">
            <a:avLst/>
          </a:prstGeom>
          <a:solidFill>
            <a:srgbClr val="F8FAFC"/>
          </a:solidFill>
          <a:ln>
            <a:solidFill>
              <a:srgbClr val="DBE9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3063239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맑은 고딕"/>
              </a:rPr>
              <a:t>라운지 비품 (이동식 부스, 가구 등)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3063239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1E40AF"/>
                </a:solidFill>
                <a:latin typeface="맑은 고딕"/>
              </a:rPr>
              <a:t>5~10,000,000원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0" y="3063239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맑은 고딕"/>
              </a:rPr>
              <a:t>이동 가능 자산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749039"/>
            <a:ext cx="11247120" cy="777240"/>
          </a:xfrm>
          <a:prstGeom prst="rect">
            <a:avLst/>
          </a:prstGeom>
          <a:solidFill>
            <a:srgbClr val="FFFFFF"/>
          </a:solidFill>
          <a:ln>
            <a:solidFill>
              <a:srgbClr val="DBE9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388620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맑은 고딕"/>
              </a:rPr>
              <a:t>무인 운영 솔루션 (키오스크, AI앱)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388620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1E40AF"/>
                </a:solidFill>
                <a:latin typeface="맑은 고딕"/>
              </a:rPr>
              <a:t>5,000,000원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0" y="388620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맑은 고딕"/>
              </a:rPr>
              <a:t>운영 자동화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4572000"/>
            <a:ext cx="11247120" cy="777240"/>
          </a:xfrm>
          <a:prstGeom prst="rect">
            <a:avLst/>
          </a:prstGeom>
          <a:solidFill>
            <a:srgbClr val="F8FAFC"/>
          </a:solidFill>
          <a:ln>
            <a:solidFill>
              <a:srgbClr val="DBE9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" y="470916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맑은 고딕"/>
              </a:rPr>
              <a:t>자부담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0" y="470916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1E40AF"/>
                </a:solidFill>
                <a:latin typeface="맑은 고딕"/>
              </a:rPr>
              <a:t>5,000,000원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0" y="470916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맑은 고딕"/>
              </a:rPr>
              <a:t>대표자 자기 자금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5532120"/>
            <a:ext cx="11247120" cy="8229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94360" y="5623560"/>
            <a:ext cx="4572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맑은 고딕"/>
              </a:rPr>
              <a:t>합  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0" y="5623560"/>
            <a:ext cx="5303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>
                <a:solidFill>
                  <a:srgbClr val="FFFFFF"/>
                </a:solidFill>
                <a:latin typeface="맑은 고딕"/>
              </a:rPr>
              <a:t>약 75,000,000원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E40AF"/>
                </a:solidFill>
                <a:latin typeface="맑은 고딕"/>
              </a:rPr>
              <a:t>06. 기대 효과 및 성장 전략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맑은 고딕"/>
              </a:rPr>
              <a:t>무인화 실현 → 연간 +3,000만 원 이상 순수익 증대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11430000" cy="27432"/>
          </a:xfrm>
          <a:prstGeom prst="rect">
            <a:avLst/>
          </a:prstGeom>
          <a:solidFill>
            <a:srgbClr val="DB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2743200" cy="5029200"/>
          </a:xfrm>
          <a:prstGeom prst="rect">
            <a:avLst/>
          </a:prstGeom>
          <a:solidFill>
            <a:srgbClr val="FFFFFF"/>
          </a:solidFill>
          <a:ln>
            <a:solidFill>
              <a:srgbClr val="DBE9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1417320"/>
            <a:ext cx="914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latin typeface="맑은 고딕"/>
              </a:rPr>
              <a:t>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F172A"/>
                </a:solidFill>
                <a:latin typeface="맑은 고딕"/>
              </a:rPr>
              <a:t>관리 인건비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697480"/>
            <a:ext cx="2560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4748B"/>
                </a:solidFill>
                <a:latin typeface="맑은 고딕"/>
              </a:rPr>
              <a:t>월 250만 원
→ 0원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4023360"/>
            <a:ext cx="2194560" cy="64008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406908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+3,000만/년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83280" y="1280160"/>
            <a:ext cx="2743200" cy="5029200"/>
          </a:xfrm>
          <a:prstGeom prst="rect">
            <a:avLst/>
          </a:prstGeom>
          <a:solidFill>
            <a:srgbClr val="FFFFFF"/>
          </a:solidFill>
          <a:ln>
            <a:solidFill>
              <a:srgbClr val="DBE9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97680" y="1417320"/>
            <a:ext cx="914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latin typeface="맑은 고딕"/>
              </a:rPr>
              <a:t>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210312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F172A"/>
                </a:solidFill>
                <a:latin typeface="맑은 고딕"/>
              </a:rPr>
              <a:t>전기료 절감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2697480"/>
            <a:ext cx="2560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4748B"/>
                </a:solidFill>
                <a:latin typeface="맑은 고딕"/>
              </a:rPr>
              <a:t>30% 비용 절감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0" y="4023360"/>
            <a:ext cx="2194560" cy="64008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0" y="406908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+500만/년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9360" y="1280160"/>
            <a:ext cx="2743200" cy="5029200"/>
          </a:xfrm>
          <a:prstGeom prst="rect">
            <a:avLst/>
          </a:prstGeom>
          <a:solidFill>
            <a:srgbClr val="FFFFFF"/>
          </a:solidFill>
          <a:ln>
            <a:solidFill>
              <a:srgbClr val="DBE9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223760" y="1417320"/>
            <a:ext cx="914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latin typeface="맑은 고딕"/>
              </a:rPr>
              <a:t>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210312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F172A"/>
                </a:solidFill>
                <a:latin typeface="맑은 고딕"/>
              </a:rPr>
              <a:t>정산 자동화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2697480"/>
            <a:ext cx="2560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4748B"/>
                </a:solidFill>
                <a:latin typeface="맑은 고딕"/>
              </a:rPr>
              <a:t>월 20시간 수작업
→ 완전 자동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80" y="4023360"/>
            <a:ext cx="2194560" cy="64008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0" y="406908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기회비용 절감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235440" y="1280160"/>
            <a:ext cx="2743200" cy="5029200"/>
          </a:xfrm>
          <a:prstGeom prst="rect">
            <a:avLst/>
          </a:prstGeom>
          <a:solidFill>
            <a:srgbClr val="FFFFFF"/>
          </a:solidFill>
          <a:ln>
            <a:solidFill>
              <a:srgbClr val="DBE9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149840" y="1417320"/>
            <a:ext cx="914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latin typeface="맑은 고딕"/>
              </a:rPr>
              <a:t>📈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26880" y="210312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F172A"/>
                </a:solidFill>
                <a:latin typeface="맑은 고딕"/>
              </a:rPr>
              <a:t>솔루션 확장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26880" y="2697480"/>
            <a:ext cx="2560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4748B"/>
                </a:solidFill>
                <a:latin typeface="맑은 고딕"/>
              </a:rPr>
              <a:t>외부 판매 목표
2027년 SaaS 론칭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509760" y="4023360"/>
            <a:ext cx="2194560" cy="64008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509760" y="406908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B2B 신규 수익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303520"/>
            <a:ext cx="12188952" cy="155448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10058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맑은 고딕"/>
              </a:rPr>
              <a:t>"단순 임대업을 넘어
AI 기반 무인 공유오피스의
표준을 만든다"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486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맑은 고딕"/>
              </a:rPr>
              <a:t>대우오피스  |  AI 무인 공유오피스 고도화 사업  | 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